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Figtree"/>
      <p:regular r:id="rId21"/>
      <p:bold r:id="rId22"/>
      <p:italic r:id="rId23"/>
      <p:boldItalic r:id="rId24"/>
    </p:embeddedFont>
    <p:embeddedFont>
      <p:font typeface="Figtree ExtraBold"/>
      <p:bold r:id="rId25"/>
      <p:boldItalic r:id="rId26"/>
    </p:embeddedFont>
    <p:embeddedFont>
      <p:font typeface="Figtree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Figtree-bold.fntdata"/><Relationship Id="rId21" Type="http://schemas.openxmlformats.org/officeDocument/2006/relationships/font" Target="fonts/Figtree-regular.fntdata"/><Relationship Id="rId24" Type="http://schemas.openxmlformats.org/officeDocument/2006/relationships/font" Target="fonts/Figtree-boldItalic.fntdata"/><Relationship Id="rId23" Type="http://schemas.openxmlformats.org/officeDocument/2006/relationships/font" Target="fonts/Figtre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ExtraBold-boldItalic.fntdata"/><Relationship Id="rId25" Type="http://schemas.openxmlformats.org/officeDocument/2006/relationships/font" Target="fonts/FigtreeExtraBold-bold.fntdata"/><Relationship Id="rId28" Type="http://schemas.openxmlformats.org/officeDocument/2006/relationships/font" Target="fonts/FigtreeSemiBold-bold.fntdata"/><Relationship Id="rId27" Type="http://schemas.openxmlformats.org/officeDocument/2006/relationships/font" Target="fonts/Figtree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Figtree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75705254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75705254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7570525400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7570525400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7570525400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7570525400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7570525400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7570525400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7570525400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7570525400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7570525400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7570525400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7570525400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7570525400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570525400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7570525400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7570525400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7570525400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7570525400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7570525400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7570525400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7570525400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7570525400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7570525400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7570525400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7570525400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7570525400_0_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7570525400_0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7570525400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7570525400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6" name="Google Shape;136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7" name="Google Shape;137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6" name="Google Shape;146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8" name="Google Shape;148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6" name="Google Shape;156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8" name="Google Shape;158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6" name="Google Shape;166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8" name="Google Shape;168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0" name="Google Shape;170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8" name="Google Shape;178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0" name="Google Shape;180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1" name="Google Shape;181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2" name="Google Shape;182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7" name="Google Shape;187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9" name="Google Shape;189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0" name="Google Shape;190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2" name="Google Shape;192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4" name="Google Shape;194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5" name="Google Shape;195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6" name="Google Shape;196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7" name="Google Shape;197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8" name="Google Shape;198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2" name="Google Shape;202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5" name="Google Shape;205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7" name="Google Shape;207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8" name="Google Shape;208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8" name="Google Shape;218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19" name="Google Shape;219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1" name="Google Shape;221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2" name="Google Shape;222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3" name="Google Shape;223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6" name="Google Shape;226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0" name="Google Shape;230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1" name="Google Shape;231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2" name="Google Shape;232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5" name="Google Shape;235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6" name="Google Shape;236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7" name="Google Shape;237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9" name="Google Shape;239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0" name="Google Shape;240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1" name="Google Shape;241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4" name="Google Shape;244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7" name="Google Shape;247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8" name="Google Shape;248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3" name="Google Shape;253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4" name="Google Shape;254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5" name="Google Shape;255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7" name="Google Shape;257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9" name="Google Shape;259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0" name="Google Shape;260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1" name="Google Shape;261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4" name="Google Shape;264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7" name="Google Shape;267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3" name="Google Shape;273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4" name="Google Shape;274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5" name="Google Shape;275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8" name="Google Shape;278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79" name="Google Shape;279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0" name="Google Shape;280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1" name="Google Shape;281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2" name="Google Shape;282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5" name="Google Shape;285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8" name="Google Shape;288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2" name="Google Shape;292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3" name="Google Shape;293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4" name="Google Shape;294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6" name="Google Shape;296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7" name="Google Shape;297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8" name="Google Shape;298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9" name="Google Shape;299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0" name="Google Shape;300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3" name="Google Shape;303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6" name="Google Shape;306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7" name="Google Shape;307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09" name="Google Shape;309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0" name="Google Shape;310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1" name="Google Shape;311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4" name="Google Shape;314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5" name="Google Shape;315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6" name="Google Shape;316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7" name="Google Shape;317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8" name="Google Shape;318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1" name="Google Shape;321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4" name="Google Shape;324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1" name="Google Shape;331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2" name="Google Shape;332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4" name="Google Shape;334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5" name="Google Shape;335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6" name="Google Shape;336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7" name="Google Shape;337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8" name="Google Shape;338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9" name="Google Shape;339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0" name="Google Shape;340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1" name="Google Shape;341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2" name="Google Shape;342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3" name="Google Shape;343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4" name="Google Shape;344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5" name="Google Shape;345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6" name="Google Shape;346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7" name="Google Shape;347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49" name="Google Shape;349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2" name="Google Shape;352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3" name="Google Shape;353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5" name="Google Shape;355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6" name="Google Shape;356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9" name="Google Shape;359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2" name="Google Shape;362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7" name="Google Shape;367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8" name="Google Shape;368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0" name="Google Shape;370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1" name="Google Shape;371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3" name="Google Shape;373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4" name="Google Shape;374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6" name="Google Shape;376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8" name="Google Shape;378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79" name="Google Shape;379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1" name="Google Shape;381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4" name="Google Shape;384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89" name="Google Shape;389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0" name="Google Shape;390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1" name="Google Shape;391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3" name="Google Shape;393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4" name="Google Shape;394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6" name="Google Shape;396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399" name="Google Shape;399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0" name="Google Shape;400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3" name="Google Shape;403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5" name="Google Shape;405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1" name="Google Shape;411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4" name="Google Shape;414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6" name="Google Shape;416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19" name="Google Shape;419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0" name="Google Shape;420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2" name="Google Shape;422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3" name="Google Shape;423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4" name="Google Shape;424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6" name="Google Shape;426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29" name="Google Shape;429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2" name="Google Shape;432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3" name="Google Shape;433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5" name="Google Shape;435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7" name="Google Shape;437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EB Programs Optimization Case Study</a:t>
            </a:r>
            <a:endParaRPr/>
          </a:p>
        </p:txBody>
      </p:sp>
      <p:sp>
        <p:nvSpPr>
          <p:cNvPr id="443" name="Google Shape;443;p40"/>
          <p:cNvSpPr txBox="1"/>
          <p:nvPr>
            <p:ph idx="2" type="title"/>
          </p:nvPr>
        </p:nvSpPr>
        <p:spPr>
          <a:xfrm>
            <a:off x="3409206" y="27103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</a:t>
            </a:r>
            <a:endParaRPr/>
          </a:p>
        </p:txBody>
      </p:sp>
      <p:sp>
        <p:nvSpPr>
          <p:cNvPr id="444" name="Google Shape;444;p40"/>
          <p:cNvSpPr txBox="1"/>
          <p:nvPr>
            <p:ph idx="1" type="body"/>
          </p:nvPr>
        </p:nvSpPr>
        <p:spPr>
          <a:xfrm>
            <a:off x="6501181" y="2233048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300"/>
              <a:t>Donald Maisiba Mogaka</a:t>
            </a:r>
            <a:endParaRPr b="1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1"/>
          <p:cNvSpPr txBox="1"/>
          <p:nvPr>
            <p:ph idx="4294967295" type="title"/>
          </p:nvPr>
        </p:nvSpPr>
        <p:spPr>
          <a:xfrm>
            <a:off x="2290075" y="692213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50" name="Google Shape;450;p41"/>
          <p:cNvSpPr txBox="1"/>
          <p:nvPr>
            <p:ph idx="4294967295" type="body"/>
          </p:nvPr>
        </p:nvSpPr>
        <p:spPr>
          <a:xfrm>
            <a:off x="2533350" y="1341600"/>
            <a:ext cx="6167100" cy="3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Current Operations Analysis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Key Bottlenecks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Data Insights (Customers &amp; Operations)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Risk &amp; Budget Analysis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Strategic Initiatives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Project Management Roadmap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Recommendations</a:t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42" title="download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095" l="0" r="0" t="3086"/>
          <a:stretch/>
        </p:blipFill>
        <p:spPr>
          <a:xfrm>
            <a:off x="4572000" y="635100"/>
            <a:ext cx="4572000" cy="4289400"/>
          </a:xfrm>
          <a:prstGeom prst="roundRect">
            <a:avLst>
              <a:gd fmla="val 16667" name="adj"/>
            </a:avLst>
          </a:prstGeom>
        </p:spPr>
      </p:pic>
      <p:sp>
        <p:nvSpPr>
          <p:cNvPr id="456" name="Google Shape;456;p42"/>
          <p:cNvSpPr txBox="1"/>
          <p:nvPr>
            <p:ph type="title"/>
          </p:nvPr>
        </p:nvSpPr>
        <p:spPr>
          <a:xfrm>
            <a:off x="401250" y="1011450"/>
            <a:ext cx="3649200" cy="63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Current Operations Overview</a:t>
            </a:r>
            <a:endParaRPr u="sng"/>
          </a:p>
        </p:txBody>
      </p:sp>
      <p:sp>
        <p:nvSpPr>
          <p:cNvPr id="457" name="Google Shape;457;p42"/>
          <p:cNvSpPr txBox="1"/>
          <p:nvPr>
            <p:ph idx="1" type="body"/>
          </p:nvPr>
        </p:nvSpPr>
        <p:spPr>
          <a:xfrm>
            <a:off x="401250" y="1952250"/>
            <a:ext cx="3996600" cy="16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Delivery Efficiency =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North highest, South lowest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Avg Installation Time =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8 days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Maintenance Requests increasing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(esp. North/West)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"/>
          <p:cNvSpPr txBox="1"/>
          <p:nvPr>
            <p:ph type="title"/>
          </p:nvPr>
        </p:nvSpPr>
        <p:spPr>
          <a:xfrm>
            <a:off x="313025" y="1272151"/>
            <a:ext cx="3741300" cy="55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Delivery &amp; Installation Delays</a:t>
            </a:r>
            <a:endParaRPr u="sng"/>
          </a:p>
        </p:txBody>
      </p:sp>
      <p:sp>
        <p:nvSpPr>
          <p:cNvPr id="463" name="Google Shape;463;p43"/>
          <p:cNvSpPr txBox="1"/>
          <p:nvPr>
            <p:ph idx="1" type="body"/>
          </p:nvPr>
        </p:nvSpPr>
        <p:spPr>
          <a:xfrm>
            <a:off x="69750" y="2397500"/>
            <a:ext cx="43629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South region has the worst delivery delays; West has highest installation delays</a:t>
            </a:r>
            <a:endParaRPr sz="1800"/>
          </a:p>
        </p:txBody>
      </p:sp>
      <p:cxnSp>
        <p:nvCxnSpPr>
          <p:cNvPr id="464" name="Google Shape;464;p43"/>
          <p:cNvCxnSpPr/>
          <p:nvPr/>
        </p:nvCxnSpPr>
        <p:spPr>
          <a:xfrm rot="-5400000">
            <a:off x="5197200" y="1689100"/>
            <a:ext cx="938400" cy="695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5" name="Google Shape;465;p43" title="A Bar Chart for Delivery and Installation dela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97500"/>
            <a:ext cx="4572000" cy="474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4"/>
          <p:cNvSpPr txBox="1"/>
          <p:nvPr>
            <p:ph type="title"/>
          </p:nvPr>
        </p:nvSpPr>
        <p:spPr>
          <a:xfrm>
            <a:off x="575800" y="12621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Customer Segment Risk</a:t>
            </a:r>
            <a:endParaRPr u="sng"/>
          </a:p>
        </p:txBody>
      </p:sp>
      <p:sp>
        <p:nvSpPr>
          <p:cNvPr id="471" name="Google Shape;471;p44"/>
          <p:cNvSpPr txBox="1"/>
          <p:nvPr>
            <p:ph idx="1" type="body"/>
          </p:nvPr>
        </p:nvSpPr>
        <p:spPr>
          <a:xfrm>
            <a:off x="179950" y="2516775"/>
            <a:ext cx="40851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Premium</a:t>
            </a:r>
            <a:r>
              <a:rPr lang="en"/>
              <a:t> kit + younger customers show higher default rates.</a:t>
            </a:r>
            <a:endParaRPr/>
          </a:p>
        </p:txBody>
      </p:sp>
      <p:pic>
        <p:nvPicPr>
          <p:cNvPr id="472" name="Google Shape;472;p44" title="Solar Kit Type vs Average Default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9525" y="397500"/>
            <a:ext cx="4482075" cy="474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"/>
          <p:cNvSpPr txBox="1"/>
          <p:nvPr>
            <p:ph type="title"/>
          </p:nvPr>
        </p:nvSpPr>
        <p:spPr>
          <a:xfrm>
            <a:off x="639300" y="12727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Maintenance Forecast</a:t>
            </a:r>
            <a:endParaRPr u="sng"/>
          </a:p>
        </p:txBody>
      </p:sp>
      <p:sp>
        <p:nvSpPr>
          <p:cNvPr id="478" name="Google Shape;478;p45"/>
          <p:cNvSpPr txBox="1"/>
          <p:nvPr>
            <p:ph idx="1" type="body"/>
          </p:nvPr>
        </p:nvSpPr>
        <p:spPr>
          <a:xfrm>
            <a:off x="702800" y="2571738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North &amp; West regions need preventive maintenance resources.</a:t>
            </a:r>
            <a:endParaRPr/>
          </a:p>
        </p:txBody>
      </p:sp>
      <p:pic>
        <p:nvPicPr>
          <p:cNvPr id="479" name="Google Shape;479;p45" title="Maintenance and Forecast Reques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46700"/>
            <a:ext cx="4572000" cy="469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 txBox="1"/>
          <p:nvPr>
            <p:ph type="title"/>
          </p:nvPr>
        </p:nvSpPr>
        <p:spPr>
          <a:xfrm>
            <a:off x="501700" y="2534863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Strategic Initiatives(1/2)</a:t>
            </a:r>
            <a:endParaRPr u="sng"/>
          </a:p>
        </p:txBody>
      </p:sp>
      <p:sp>
        <p:nvSpPr>
          <p:cNvPr id="485" name="Google Shape;485;p46"/>
          <p:cNvSpPr txBox="1"/>
          <p:nvPr>
            <p:ph idx="1" type="body"/>
          </p:nvPr>
        </p:nvSpPr>
        <p:spPr>
          <a:xfrm>
            <a:off x="4572000" y="449575"/>
            <a:ext cx="4572000" cy="469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Logistics Optimization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Improve delivery routing &amp; partnerships.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Targeted Credit Screening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Focus on high-risk customer segments.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Predictive Maintenance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AI-based early detection to reduce breakdowns.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7"/>
          <p:cNvSpPr txBox="1"/>
          <p:nvPr>
            <p:ph type="title"/>
          </p:nvPr>
        </p:nvSpPr>
        <p:spPr>
          <a:xfrm>
            <a:off x="649875" y="257173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Strategic Initiatives (2/2)</a:t>
            </a:r>
            <a:endParaRPr u="sng"/>
          </a:p>
        </p:txBody>
      </p:sp>
      <p:sp>
        <p:nvSpPr>
          <p:cNvPr id="491" name="Google Shape;491;p47"/>
          <p:cNvSpPr txBox="1"/>
          <p:nvPr>
            <p:ph idx="1" type="body"/>
          </p:nvPr>
        </p:nvSpPr>
        <p:spPr>
          <a:xfrm>
            <a:off x="4940850" y="467850"/>
            <a:ext cx="4092300" cy="433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Alignment with Sun King goals: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Lower costs by reducing delays.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Increase repayment reliability.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Enhance customer satisfaction.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8"/>
          <p:cNvSpPr txBox="1"/>
          <p:nvPr>
            <p:ph type="title"/>
          </p:nvPr>
        </p:nvSpPr>
        <p:spPr>
          <a:xfrm>
            <a:off x="547800" y="2571750"/>
            <a:ext cx="36246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Roadmap for Implementation</a:t>
            </a:r>
            <a:endParaRPr u="sng"/>
          </a:p>
        </p:txBody>
      </p:sp>
      <p:sp>
        <p:nvSpPr>
          <p:cNvPr id="497" name="Google Shape;497;p48"/>
          <p:cNvSpPr txBox="1"/>
          <p:nvPr>
            <p:ph idx="1" type="body"/>
          </p:nvPr>
        </p:nvSpPr>
        <p:spPr>
          <a:xfrm>
            <a:off x="4615350" y="1176950"/>
            <a:ext cx="4011000" cy="324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Q1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Launch logistics pilot in South region.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Q2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Roll out credit-risk tools.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Q3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→ Deploy predictive maintenance in West &amp; North.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9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Risk Management</a:t>
            </a:r>
            <a:endParaRPr u="sng"/>
          </a:p>
        </p:txBody>
      </p:sp>
      <p:sp>
        <p:nvSpPr>
          <p:cNvPr id="503" name="Google Shape;503;p49"/>
          <p:cNvSpPr txBox="1"/>
          <p:nvPr>
            <p:ph idx="1" type="body"/>
          </p:nvPr>
        </p:nvSpPr>
        <p:spPr>
          <a:xfrm>
            <a:off x="4940850" y="1694568"/>
            <a:ext cx="3293400" cy="21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Supply chain disruptions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Rising installation labor cost</a:t>
            </a:r>
            <a:r>
              <a:rPr lang="en"/>
              <a:t>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Customer defaults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9"/>
          <p:cNvSpPr txBox="1"/>
          <p:nvPr/>
        </p:nvSpPr>
        <p:spPr>
          <a:xfrm>
            <a:off x="360850" y="3003050"/>
            <a:ext cx="3873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Mitigation: </a:t>
            </a:r>
            <a:r>
              <a:rPr lang="en"/>
              <a:t>Supplier diversification, contractor training, micro-credit support.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0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Budget Deficit Analysis</a:t>
            </a:r>
            <a:endParaRPr u="sng"/>
          </a:p>
        </p:txBody>
      </p:sp>
      <p:sp>
        <p:nvSpPr>
          <p:cNvPr id="510" name="Google Shape;510;p50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Deficit mainly from installation labor &amp; customer support overspend.</a:t>
            </a:r>
            <a:endParaRPr/>
          </a:p>
        </p:txBody>
      </p:sp>
      <p:pic>
        <p:nvPicPr>
          <p:cNvPr id="511" name="Google Shape;51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46700"/>
            <a:ext cx="4572000" cy="469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/>
          <p:nvPr>
            <p:ph type="title"/>
          </p:nvPr>
        </p:nvSpPr>
        <p:spPr>
          <a:xfrm>
            <a:off x="639300" y="1780763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Budget Reallocation Plan</a:t>
            </a:r>
            <a:endParaRPr u="sng"/>
          </a:p>
        </p:txBody>
      </p:sp>
      <p:sp>
        <p:nvSpPr>
          <p:cNvPr id="517" name="Google Shape;517;p51"/>
          <p:cNvSpPr txBox="1"/>
          <p:nvPr>
            <p:ph idx="1" type="body"/>
          </p:nvPr>
        </p:nvSpPr>
        <p:spPr>
          <a:xfrm>
            <a:off x="572525" y="2616275"/>
            <a:ext cx="36303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Reallocate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marketing &amp; procurement savings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to cover labor overspend</a:t>
            </a:r>
            <a:endParaRPr/>
          </a:p>
        </p:txBody>
      </p:sp>
      <p:sp>
        <p:nvSpPr>
          <p:cNvPr id="518" name="Google Shape;518;p51"/>
          <p:cNvSpPr txBox="1"/>
          <p:nvPr>
            <p:ph type="title"/>
          </p:nvPr>
        </p:nvSpPr>
        <p:spPr>
          <a:xfrm>
            <a:off x="4813375" y="1612563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</a:t>
            </a:r>
            <a:r>
              <a:rPr lang="en"/>
              <a:t> off:</a:t>
            </a:r>
            <a:endParaRPr/>
          </a:p>
        </p:txBody>
      </p:sp>
      <p:sp>
        <p:nvSpPr>
          <p:cNvPr id="519" name="Google Shape;519;p51"/>
          <p:cNvSpPr txBox="1"/>
          <p:nvPr>
            <p:ph idx="1" type="body"/>
          </p:nvPr>
        </p:nvSpPr>
        <p:spPr>
          <a:xfrm>
            <a:off x="4940850" y="2616275"/>
            <a:ext cx="3727800" cy="12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Slightly slower growth campaigns vs. guaranteed program delivery.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2"/>
          <p:cNvSpPr txBox="1"/>
          <p:nvPr>
            <p:ph type="title"/>
          </p:nvPr>
        </p:nvSpPr>
        <p:spPr>
          <a:xfrm>
            <a:off x="149200" y="1960700"/>
            <a:ext cx="44229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Project Management (North Region)</a:t>
            </a:r>
            <a:endParaRPr u="sng"/>
          </a:p>
        </p:txBody>
      </p:sp>
      <p:sp>
        <p:nvSpPr>
          <p:cNvPr id="525" name="Google Shape;525;p52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Parallelize prep tasks &amp; subcontract for efficiency.</a:t>
            </a:r>
            <a:endParaRPr/>
          </a:p>
        </p:txBody>
      </p:sp>
      <p:pic>
        <p:nvPicPr>
          <p:cNvPr id="526" name="Google Shape;52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100" y="446700"/>
            <a:ext cx="4571900" cy="46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3"/>
          <p:cNvSpPr txBox="1"/>
          <p:nvPr>
            <p:ph type="title"/>
          </p:nvPr>
        </p:nvSpPr>
        <p:spPr>
          <a:xfrm>
            <a:off x="211650" y="1749025"/>
            <a:ext cx="41487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Team &amp; Stakeholder Management</a:t>
            </a:r>
            <a:endParaRPr u="sng"/>
          </a:p>
        </p:txBody>
      </p:sp>
      <p:sp>
        <p:nvSpPr>
          <p:cNvPr id="532" name="Google Shape;532;p53"/>
          <p:cNvSpPr txBox="1"/>
          <p:nvPr>
            <p:ph idx="1" type="body"/>
          </p:nvPr>
        </p:nvSpPr>
        <p:spPr>
          <a:xfrm>
            <a:off x="434950" y="2675525"/>
            <a:ext cx="3497700" cy="14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/>
              <a:t>Action Plan:</a:t>
            </a:r>
            <a:endParaRPr b="1" sz="1200" u="sng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Weekly cross-functional sync (Sales, Ops, Support).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Shared project tracker for transparency.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3" name="Google Shape;533;p53"/>
          <p:cNvSpPr txBox="1"/>
          <p:nvPr>
            <p:ph idx="1" type="body"/>
          </p:nvPr>
        </p:nvSpPr>
        <p:spPr>
          <a:xfrm>
            <a:off x="5011200" y="1938900"/>
            <a:ext cx="3497700" cy="18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/>
              <a:t>Stakeholder Communication:</a:t>
            </a:r>
            <a:endParaRPr b="1" sz="1200" u="sng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Monthly updates with KPIs + risks.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Additional funding request supported by efficiency metrics.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4"/>
          <p:cNvSpPr txBox="1"/>
          <p:nvPr>
            <p:ph type="title"/>
          </p:nvPr>
        </p:nvSpPr>
        <p:spPr>
          <a:xfrm>
            <a:off x="222150" y="1495025"/>
            <a:ext cx="41277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Recommendations &amp; Conclusion</a:t>
            </a:r>
            <a:endParaRPr u="sng"/>
          </a:p>
        </p:txBody>
      </p:sp>
      <p:sp>
        <p:nvSpPr>
          <p:cNvPr id="539" name="Google Shape;539;p54"/>
          <p:cNvSpPr txBox="1"/>
          <p:nvPr>
            <p:ph idx="1" type="body"/>
          </p:nvPr>
        </p:nvSpPr>
        <p:spPr>
          <a:xfrm>
            <a:off x="639300" y="2675542"/>
            <a:ext cx="3293400" cy="20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Key </a:t>
            </a:r>
            <a:r>
              <a:rPr lang="en" sz="1200"/>
              <a:t>Takeaway: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Focus on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South &amp; East regions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for delays.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Strengthen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customer credit screening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Offset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budget overspend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with savings plan.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Proactive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team alignment &amp; reporting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0" name="Google Shape;540;p54"/>
          <p:cNvSpPr txBox="1"/>
          <p:nvPr>
            <p:ph type="title"/>
          </p:nvPr>
        </p:nvSpPr>
        <p:spPr>
          <a:xfrm>
            <a:off x="4666800" y="2299750"/>
            <a:ext cx="4127700" cy="99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Sun King can scale efficiently with targeted operational improvements.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